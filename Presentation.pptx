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45"/>
  </p:notesMasterIdLst>
  <p:handoutMasterIdLst>
    <p:handoutMasterId r:id="rId46"/>
  </p:handoutMasterIdLst>
  <p:sldIdLst>
    <p:sldId id="327" r:id="rId5"/>
    <p:sldId id="330" r:id="rId6"/>
    <p:sldId id="332" r:id="rId7"/>
    <p:sldId id="298" r:id="rId8"/>
    <p:sldId id="262" r:id="rId9"/>
    <p:sldId id="263" r:id="rId10"/>
    <p:sldId id="299" r:id="rId11"/>
    <p:sldId id="302" r:id="rId12"/>
    <p:sldId id="264" r:id="rId13"/>
    <p:sldId id="266" r:id="rId14"/>
    <p:sldId id="265" r:id="rId15"/>
    <p:sldId id="276" r:id="rId16"/>
    <p:sldId id="293" r:id="rId17"/>
    <p:sldId id="277" r:id="rId18"/>
    <p:sldId id="284" r:id="rId19"/>
    <p:sldId id="269" r:id="rId20"/>
    <p:sldId id="304" r:id="rId21"/>
    <p:sldId id="305" r:id="rId22"/>
    <p:sldId id="307" r:id="rId23"/>
    <p:sldId id="306" r:id="rId24"/>
    <p:sldId id="308" r:id="rId25"/>
    <p:sldId id="270" r:id="rId26"/>
    <p:sldId id="309" r:id="rId27"/>
    <p:sldId id="310" r:id="rId28"/>
    <p:sldId id="311" r:id="rId29"/>
    <p:sldId id="312" r:id="rId30"/>
    <p:sldId id="314" r:id="rId31"/>
    <p:sldId id="313" r:id="rId32"/>
    <p:sldId id="315" r:id="rId33"/>
    <p:sldId id="316" r:id="rId34"/>
    <p:sldId id="317" r:id="rId35"/>
    <p:sldId id="294" r:id="rId36"/>
    <p:sldId id="296" r:id="rId37"/>
    <p:sldId id="318" r:id="rId38"/>
    <p:sldId id="319" r:id="rId39"/>
    <p:sldId id="288" r:id="rId40"/>
    <p:sldId id="289" r:id="rId41"/>
    <p:sldId id="320" r:id="rId42"/>
    <p:sldId id="274" r:id="rId43"/>
    <p:sldId id="329" r:id="rId44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7FB42E05-DEC9-4126-B474-47B35F363E13}" v="30" dt="2021-07-12T20:25:12.855"/>
    <p1510:client id="{82D0390A-222A-332D-F9F9-70D15093EB60}" v="22" dt="2021-07-13T17:51:30.429"/>
    <p1510:client id="{86B35720-4193-446F-B2D5-9AD9984A55EF}" v="513" dt="2021-08-19T14:59:06.521"/>
    <p1510:client id="{998F4E3E-1A76-4A6B-98B6-08752F3768B3}" v="4" dt="2021-08-10T21:41:11.0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00"/>
    <p:restoredTop sz="85154"/>
  </p:normalViewPr>
  <p:slideViewPr>
    <p:cSldViewPr snapToGrid="0" snapToObjects="1">
      <p:cViewPr varScale="1">
        <p:scale>
          <a:sx n="70" d="100"/>
          <a:sy n="70" d="100"/>
        </p:scale>
        <p:origin x="1397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64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7573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6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st_of_Falcon_9_and_Falcon_Heavy_launche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spacexdata.com/v4/launches/past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 txBox="1"/>
          <p:nvPr/>
        </p:nvSpPr>
        <p:spPr>
          <a:xfrm>
            <a:off x="888546" y="4568734"/>
            <a:ext cx="25146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Abadi"/>
                <a:ea typeface="SF Pro" pitchFamily="2" charset="0"/>
                <a:cs typeface="SF Pro" pitchFamily="2" charset="0"/>
              </a:rPr>
              <a:t>Oleg Gorin</a:t>
            </a:r>
          </a:p>
          <a:p>
            <a:r>
              <a:rPr lang="en-US" dirty="0">
                <a:solidFill>
                  <a:schemeClr val="bg2"/>
                </a:solidFill>
                <a:latin typeface="Abadi" panose="020B0604020104020204" pitchFamily="34" charset="0"/>
                <a:ea typeface="SF Pro" pitchFamily="2" charset="0"/>
                <a:cs typeface="SF Pro" pitchFamily="2" charset="0"/>
              </a:rPr>
              <a:t>20.08.2026</a:t>
            </a:r>
          </a:p>
        </p:txBody>
      </p:sp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5075537C-CA84-1446-933C-8E9D027F92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697" y="2113240"/>
            <a:ext cx="5167086" cy="332082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Executive Summary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Introduction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Methodology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Conclusion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Appendix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Introduction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999A1B-8752-489F-A63B-EA2F60186B52}"/>
              </a:ext>
            </a:extLst>
          </p:cNvPr>
          <p:cNvSpPr txBox="1">
            <a:spLocks/>
          </p:cNvSpPr>
          <p:nvPr/>
        </p:nvSpPr>
        <p:spPr>
          <a:xfrm>
            <a:off x="828067" y="2521403"/>
            <a:ext cx="4832774" cy="18984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400"/>
              </a:spcBef>
            </a:pPr>
            <a:r>
              <a:rPr lang="en-GB" sz="2400" u="sng" dirty="0"/>
              <a:t>Space X Falcon 9</a:t>
            </a:r>
            <a:r>
              <a:rPr lang="en-GB" sz="2400" dirty="0"/>
              <a:t>: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GB" sz="2400" dirty="0"/>
              <a:t>	 62 million dollars</a:t>
            </a:r>
          </a:p>
          <a:p>
            <a:pPr>
              <a:spcBef>
                <a:spcPts val="1400"/>
              </a:spcBef>
            </a:pPr>
            <a:r>
              <a:rPr lang="en-GB" sz="2400" u="sng" dirty="0"/>
              <a:t>other providers</a:t>
            </a:r>
            <a:r>
              <a:rPr lang="en-GB" sz="2400" dirty="0"/>
              <a:t>: 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GB" sz="2400" dirty="0"/>
              <a:t>	upward of 165 million dollars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2432ACDA-61D8-0642-FDDD-329AD7DBE3EF}"/>
              </a:ext>
            </a:extLst>
          </p:cNvPr>
          <p:cNvSpPr txBox="1"/>
          <p:nvPr/>
        </p:nvSpPr>
        <p:spPr>
          <a:xfrm>
            <a:off x="697439" y="1926771"/>
            <a:ext cx="26100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Rocket lunch costs:</a:t>
            </a:r>
            <a:endParaRPr lang="en-GB" sz="2400" b="1" dirty="0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E95EE4D5-1CEE-58AD-AFA8-730CC42AD055}"/>
              </a:ext>
            </a:extLst>
          </p:cNvPr>
          <p:cNvSpPr txBox="1"/>
          <p:nvPr/>
        </p:nvSpPr>
        <p:spPr>
          <a:xfrm>
            <a:off x="697438" y="5043958"/>
            <a:ext cx="28964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Reason of difference: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8A2814-851A-368D-17B5-B606F96A302B}"/>
              </a:ext>
            </a:extLst>
          </p:cNvPr>
          <p:cNvSpPr txBox="1">
            <a:spLocks/>
          </p:cNvSpPr>
          <p:nvPr/>
        </p:nvSpPr>
        <p:spPr>
          <a:xfrm>
            <a:off x="828067" y="5655040"/>
            <a:ext cx="5257046" cy="822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400"/>
              </a:spcBef>
            </a:pPr>
            <a:r>
              <a:rPr lang="en-GB" sz="2400" dirty="0"/>
              <a:t>Space X can reuse the first stage. </a:t>
            </a:r>
            <a:endParaRPr lang="en-US" sz="24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6E2BA178-35AE-3D23-8B50-A3342B4CB02C}"/>
              </a:ext>
            </a:extLst>
          </p:cNvPr>
          <p:cNvSpPr txBox="1"/>
          <p:nvPr/>
        </p:nvSpPr>
        <p:spPr>
          <a:xfrm>
            <a:off x="6531160" y="1926770"/>
            <a:ext cx="2807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Purpose of research:</a:t>
            </a:r>
            <a:endParaRPr lang="en-GB" sz="2400" b="1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E4BA0E-0056-F3A5-C2F6-B4DC3A75F409}"/>
              </a:ext>
            </a:extLst>
          </p:cNvPr>
          <p:cNvSpPr txBox="1">
            <a:spLocks/>
          </p:cNvSpPr>
          <p:nvPr/>
        </p:nvSpPr>
        <p:spPr>
          <a:xfrm>
            <a:off x="6629131" y="2607424"/>
            <a:ext cx="5660840" cy="549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400"/>
              </a:spcBef>
            </a:pPr>
            <a:r>
              <a:rPr lang="en-US" sz="2400" dirty="0"/>
              <a:t>D</a:t>
            </a:r>
            <a:r>
              <a:rPr lang="en-GB" sz="2400" dirty="0" err="1"/>
              <a:t>etermine</a:t>
            </a:r>
            <a:r>
              <a:rPr lang="en-GB" sz="2400" dirty="0"/>
              <a:t> if first stage will land</a:t>
            </a: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94DB43ED-5F71-AA8A-E761-4F75897EF54E}"/>
              </a:ext>
            </a:extLst>
          </p:cNvPr>
          <p:cNvSpPr txBox="1"/>
          <p:nvPr/>
        </p:nvSpPr>
        <p:spPr>
          <a:xfrm>
            <a:off x="6531160" y="3877754"/>
            <a:ext cx="28758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Why is it important?:</a:t>
            </a:r>
            <a:endParaRPr lang="en-GB" sz="2400" b="1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D0904D0-D5B0-448E-941C-5AF9CD97DD24}"/>
              </a:ext>
            </a:extLst>
          </p:cNvPr>
          <p:cNvSpPr txBox="1">
            <a:spLocks/>
          </p:cNvSpPr>
          <p:nvPr/>
        </p:nvSpPr>
        <p:spPr>
          <a:xfrm>
            <a:off x="6531160" y="4488609"/>
            <a:ext cx="5660840" cy="12029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400"/>
              </a:spcBef>
            </a:pPr>
            <a:r>
              <a:rPr lang="en-US" sz="2400" dirty="0"/>
              <a:t>Predict the cost of launch</a:t>
            </a:r>
          </a:p>
          <a:p>
            <a:pPr>
              <a:spcBef>
                <a:spcPts val="1400"/>
              </a:spcBef>
            </a:pPr>
            <a:r>
              <a:rPr lang="en-US" sz="2400" dirty="0"/>
              <a:t>Give opportunity to other companies to compete SpaceX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BF29A-91D2-784B-9589-F5A38831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5075537C-CA84-1446-933C-8E9D027F9201}" type="slidenum">
              <a:rPr lang="en-US" smtClean="0"/>
              <a:t>4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93D11-6810-B94E-A01A-A2D00E82E738}"/>
              </a:ext>
            </a:extLst>
          </p:cNvPr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FEC426-B615-E549-83E5-140FD588BC64}"/>
              </a:ext>
            </a:extLst>
          </p:cNvPr>
          <p:cNvSpPr txBox="1">
            <a:spLocks/>
          </p:cNvSpPr>
          <p:nvPr/>
        </p:nvSpPr>
        <p:spPr>
          <a:xfrm>
            <a:off x="770011" y="1580808"/>
            <a:ext cx="10104817" cy="5211877"/>
          </a:xfrm>
          <a:prstGeom prst="rect">
            <a:avLst/>
          </a:prstGeom>
        </p:spPr>
        <p:txBody>
          <a:bodyPr lIns="91440" tIns="45720" rIns="91440" bIns="45720" anchor="t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rPr lang="en-US" sz="8800" dirty="0">
                <a:solidFill>
                  <a:srgbClr val="0B49CB"/>
                </a:solidFill>
                <a:latin typeface="Abadi"/>
              </a:rPr>
              <a:t>Executive Summary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Data collection methodology: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Describe how data was collected 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data wrangling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Describe how data was processed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exploratory data analysis (EDA) using visualization and SQL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interactive visual analytics using Folium and </a:t>
            </a:r>
            <a:r>
              <a:rPr lang="en-US" sz="88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Plotly</a:t>
            </a: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 Dash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predictive analysis using classification models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How to build, tune, evaluate classification models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endParaRPr lang="en-US" sz="88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Methodology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Data were collected from following sources:</a:t>
            </a:r>
          </a:p>
          <a:p>
            <a:pPr lvl="1">
              <a:lnSpc>
                <a:spcPct val="100000"/>
              </a:lnSpc>
              <a:spcBef>
                <a:spcPts val="1400"/>
              </a:spcBef>
            </a:pPr>
            <a:r>
              <a:rPr lang="en-US" sz="1600" u="sng" dirty="0">
                <a:latin typeface="Abadi" panose="020B0604020104020204" pitchFamily="34" charset="0"/>
              </a:rPr>
              <a:t>api.spacexdata.com</a:t>
            </a:r>
          </a:p>
          <a:p>
            <a:pPr lvl="1">
              <a:lnSpc>
                <a:spcPct val="100000"/>
              </a:lnSpc>
              <a:spcBef>
                <a:spcPts val="1400"/>
              </a:spcBef>
            </a:pPr>
            <a:r>
              <a:rPr lang="en-GB" sz="1600" u="sng" dirty="0">
                <a:latin typeface="Abadi" panose="020B06040201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https://en.wikipedia.org/wiki/List_of_Falcon_9_and_Falcon_Heavy_launches</a:t>
            </a:r>
            <a:endParaRPr lang="en-GB" sz="1600" u="sng" dirty="0">
              <a:latin typeface="Abadi" panose="020B0604020104020204" pitchFamily="34" charset="0"/>
            </a:endParaRPr>
          </a:p>
          <a:p>
            <a:pPr lvl="1">
              <a:lnSpc>
                <a:spcPct val="100000"/>
              </a:lnSpc>
              <a:spcBef>
                <a:spcPts val="1400"/>
              </a:spcBef>
            </a:pPr>
            <a:endParaRPr lang="en-US" sz="1600" u="sng" dirty="0"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Key tools/libraries used for data collection:</a:t>
            </a:r>
          </a:p>
          <a:p>
            <a:pPr lvl="1">
              <a:lnSpc>
                <a:spcPct val="100000"/>
              </a:lnSpc>
              <a:spcBef>
                <a:spcPts val="1400"/>
              </a:spcBef>
            </a:pPr>
            <a:r>
              <a:rPr lang="en-US" dirty="0"/>
              <a:t>Web scraping:</a:t>
            </a:r>
          </a:p>
          <a:p>
            <a:pPr lvl="2">
              <a:lnSpc>
                <a:spcPct val="100000"/>
              </a:lnSpc>
              <a:spcBef>
                <a:spcPts val="1400"/>
              </a:spcBef>
            </a:pPr>
            <a:r>
              <a:rPr lang="en-US" dirty="0"/>
              <a:t>Beautifulsoup4</a:t>
            </a:r>
          </a:p>
          <a:p>
            <a:pPr lvl="2">
              <a:lnSpc>
                <a:spcPct val="100000"/>
              </a:lnSpc>
              <a:spcBef>
                <a:spcPts val="1400"/>
              </a:spcBef>
            </a:pPr>
            <a:r>
              <a:rPr lang="en-US" dirty="0"/>
              <a:t>Requests</a:t>
            </a:r>
          </a:p>
          <a:p>
            <a:pPr lvl="1">
              <a:lnSpc>
                <a:spcPct val="100000"/>
              </a:lnSpc>
              <a:spcBef>
                <a:spcPts val="1400"/>
              </a:spcBef>
            </a:pPr>
            <a:r>
              <a:rPr lang="en-US" dirty="0"/>
              <a:t>SpaceX REST API:</a:t>
            </a:r>
          </a:p>
          <a:p>
            <a:pPr lvl="2">
              <a:lnSpc>
                <a:spcPct val="100000"/>
              </a:lnSpc>
              <a:spcBef>
                <a:spcPts val="1400"/>
              </a:spcBef>
            </a:pPr>
            <a:r>
              <a:rPr lang="en-US" dirty="0"/>
              <a:t>Requests</a:t>
            </a:r>
          </a:p>
          <a:p>
            <a:pPr lvl="2">
              <a:lnSpc>
                <a:spcPct val="100000"/>
              </a:lnSpc>
              <a:spcBef>
                <a:spcPts val="1400"/>
              </a:spcBef>
            </a:pPr>
            <a:endParaRPr lang="en-US" dirty="0"/>
          </a:p>
          <a:p>
            <a:pPr lvl="1">
              <a:lnSpc>
                <a:spcPct val="100000"/>
              </a:lnSpc>
              <a:spcBef>
                <a:spcPts val="1400"/>
              </a:spcBef>
            </a:pP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87890" y="2989131"/>
            <a:ext cx="8012567" cy="258435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dirty="0" err="1">
                <a:latin typeface="Abadi"/>
              </a:rPr>
              <a:t>spacex_url</a:t>
            </a:r>
            <a:r>
              <a:rPr lang="en-US" sz="2000" dirty="0">
                <a:latin typeface="Abadi"/>
              </a:rPr>
              <a:t> = </a:t>
            </a:r>
            <a:r>
              <a:rPr lang="en-US" sz="2000" dirty="0">
                <a:solidFill>
                  <a:srgbClr val="C00000"/>
                </a:solidFill>
                <a:latin typeface="Abadi"/>
                <a:hlinkClick r:id="rId3"/>
              </a:rPr>
              <a:t>https://api.spacexdata.com/v4/launches/past</a:t>
            </a:r>
            <a:endParaRPr lang="en-US" sz="2000" dirty="0">
              <a:solidFill>
                <a:srgbClr val="C00000"/>
              </a:solidFill>
              <a:latin typeface="Abadi"/>
            </a:endParaRPr>
          </a:p>
          <a:p>
            <a:pPr marL="0" indent="0">
              <a:buNone/>
            </a:pPr>
            <a:endParaRPr lang="en-US" sz="2000" dirty="0">
              <a:solidFill>
                <a:srgbClr val="C00000"/>
              </a:solidFill>
              <a:latin typeface="Abadi"/>
            </a:endParaRPr>
          </a:p>
          <a:p>
            <a:pPr marL="0" indent="0">
              <a:buNone/>
            </a:pPr>
            <a:r>
              <a:rPr lang="en-US" sz="2000" dirty="0">
                <a:latin typeface="Abadi"/>
              </a:rPr>
              <a:t>response = </a:t>
            </a:r>
            <a:r>
              <a:rPr lang="en-US" sz="2000" dirty="0" err="1">
                <a:latin typeface="Abadi"/>
              </a:rPr>
              <a:t>requests.</a:t>
            </a:r>
            <a:r>
              <a:rPr lang="en-US" sz="2000" dirty="0" err="1">
                <a:solidFill>
                  <a:schemeClr val="accent1"/>
                </a:solidFill>
                <a:latin typeface="Abadi"/>
              </a:rPr>
              <a:t>get</a:t>
            </a:r>
            <a:r>
              <a:rPr lang="en-US" sz="2000" dirty="0">
                <a:latin typeface="Abadi"/>
              </a:rPr>
              <a:t>(</a:t>
            </a:r>
            <a:r>
              <a:rPr lang="en-US" sz="2000" dirty="0" err="1">
                <a:latin typeface="Abadi"/>
              </a:rPr>
              <a:t>spacex_url</a:t>
            </a:r>
            <a:r>
              <a:rPr lang="en-US" sz="2000" dirty="0">
                <a:latin typeface="Abadi"/>
              </a:rPr>
              <a:t>)</a:t>
            </a:r>
          </a:p>
          <a:p>
            <a:pPr marL="0" indent="0">
              <a:buNone/>
            </a:pPr>
            <a:endParaRPr lang="en-US" sz="2000" dirty="0">
              <a:latin typeface="Abadi"/>
            </a:endParaRPr>
          </a:p>
          <a:p>
            <a:pPr marL="0" indent="0">
              <a:buNone/>
            </a:pPr>
            <a:r>
              <a:rPr lang="en-US" sz="2000" dirty="0">
                <a:latin typeface="Abadi"/>
              </a:rPr>
              <a:t>data = </a:t>
            </a:r>
            <a:r>
              <a:rPr lang="en-US" sz="2000" dirty="0" err="1">
                <a:latin typeface="Abadi"/>
              </a:rPr>
              <a:t>pd.</a:t>
            </a:r>
            <a:r>
              <a:rPr lang="en-US" sz="2000" dirty="0" err="1">
                <a:solidFill>
                  <a:schemeClr val="accent1"/>
                </a:solidFill>
                <a:latin typeface="Abadi"/>
              </a:rPr>
              <a:t>json_normalize</a:t>
            </a:r>
            <a:r>
              <a:rPr lang="en-US" sz="2000" dirty="0">
                <a:latin typeface="Abadi"/>
              </a:rPr>
              <a:t>(</a:t>
            </a:r>
            <a:r>
              <a:rPr lang="en-US" sz="2000" dirty="0" err="1">
                <a:latin typeface="Abadi"/>
              </a:rPr>
              <a:t>response.</a:t>
            </a:r>
            <a:r>
              <a:rPr lang="en-US" sz="2000" dirty="0" err="1">
                <a:solidFill>
                  <a:schemeClr val="accent1"/>
                </a:solidFill>
                <a:latin typeface="Abadi"/>
              </a:rPr>
              <a:t>json</a:t>
            </a:r>
            <a:r>
              <a:rPr lang="en-US" sz="2000" dirty="0">
                <a:latin typeface="Abadi"/>
              </a:rPr>
              <a:t>())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20738" y="1800226"/>
            <a:ext cx="7430633" cy="8232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Data collection with SpaceX REST:</a:t>
            </a:r>
            <a:endParaRPr lang="en-US" b="1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– SpaceX API</a:t>
            </a:r>
          </a:p>
        </p:txBody>
      </p:sp>
    </p:spTree>
    <p:extLst>
      <p:ext uri="{BB962C8B-B14F-4D97-AF65-F5344CB8AC3E}">
        <p14:creationId xmlns:p14="http://schemas.microsoft.com/office/powerpoint/2010/main" val="280316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922410" y="1792288"/>
            <a:ext cx="10535561" cy="820283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Web scraping process using key phrases and flowcharts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b="1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84506E-0B2F-4BA8-892E-8CE3753AF954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endParaRPr lang="en-US">
              <a:solidFill>
                <a:srgbClr val="1C7DDB"/>
              </a:solidFill>
              <a:latin typeface="Abad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F5ABFD-B4D4-43FF-959F-AFAF45B45269}"/>
              </a:ext>
            </a:extLst>
          </p:cNvPr>
          <p:cNvSpPr txBox="1">
            <a:spLocks/>
          </p:cNvSpPr>
          <p:nvPr/>
        </p:nvSpPr>
        <p:spPr>
          <a:xfrm>
            <a:off x="922411" y="6910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- Scraping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B78C759-C687-440F-8CAE-D3071F1AB630}"/>
              </a:ext>
            </a:extLst>
          </p:cNvPr>
          <p:cNvSpPr txBox="1">
            <a:spLocks/>
          </p:cNvSpPr>
          <p:nvPr/>
        </p:nvSpPr>
        <p:spPr>
          <a:xfrm>
            <a:off x="1263193" y="2612570"/>
            <a:ext cx="8528881" cy="2040531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latin typeface="Abadi"/>
              </a:rPr>
              <a:t>response = </a:t>
            </a:r>
            <a:r>
              <a:rPr lang="en-GB" sz="2000" dirty="0" err="1">
                <a:latin typeface="Abadi"/>
              </a:rPr>
              <a:t>requests.</a:t>
            </a:r>
            <a:r>
              <a:rPr lang="en-GB" sz="2000" dirty="0" err="1">
                <a:solidFill>
                  <a:schemeClr val="accent1"/>
                </a:solidFill>
                <a:latin typeface="Abadi"/>
              </a:rPr>
              <a:t>get</a:t>
            </a:r>
            <a:r>
              <a:rPr lang="en-GB" sz="2000" dirty="0">
                <a:latin typeface="Abadi"/>
              </a:rPr>
              <a:t>(</a:t>
            </a:r>
            <a:r>
              <a:rPr lang="en-GB" sz="2000" dirty="0" err="1">
                <a:latin typeface="Abadi"/>
              </a:rPr>
              <a:t>static_url</a:t>
            </a:r>
            <a:r>
              <a:rPr lang="en-GB" sz="2000" dirty="0">
                <a:latin typeface="Abadi"/>
              </a:rPr>
              <a:t>, headers = headers)</a:t>
            </a:r>
            <a:endParaRPr lang="en-US" sz="2000" dirty="0">
              <a:latin typeface="Abadi"/>
            </a:endParaRPr>
          </a:p>
          <a:p>
            <a:pPr marL="0" indent="0">
              <a:buNone/>
            </a:pPr>
            <a:r>
              <a:rPr lang="en-US" sz="2000" dirty="0">
                <a:latin typeface="Abadi"/>
              </a:rPr>
              <a:t>soup = </a:t>
            </a:r>
            <a:r>
              <a:rPr lang="en-US" sz="2000" dirty="0" err="1">
                <a:latin typeface="Abadi"/>
              </a:rPr>
              <a:t>BeautifulSoup</a:t>
            </a:r>
            <a:r>
              <a:rPr lang="en-US" sz="2000" dirty="0">
                <a:latin typeface="Abadi"/>
              </a:rPr>
              <a:t>(</a:t>
            </a:r>
            <a:r>
              <a:rPr lang="en-US" sz="2000" dirty="0" err="1">
                <a:latin typeface="Abadi"/>
              </a:rPr>
              <a:t>response.</a:t>
            </a:r>
            <a:r>
              <a:rPr lang="en-US" sz="2000" dirty="0" err="1">
                <a:solidFill>
                  <a:schemeClr val="accent1"/>
                </a:solidFill>
                <a:latin typeface="Abadi"/>
              </a:rPr>
              <a:t>text</a:t>
            </a:r>
            <a:r>
              <a:rPr lang="en-US" sz="2000" dirty="0">
                <a:latin typeface="Abadi"/>
              </a:rPr>
              <a:t>)</a:t>
            </a:r>
          </a:p>
          <a:p>
            <a:pPr marL="0" indent="0">
              <a:buNone/>
            </a:pPr>
            <a:r>
              <a:rPr lang="en-GB" sz="2000" dirty="0" err="1">
                <a:latin typeface="Abadi"/>
              </a:rPr>
              <a:t>html_tables</a:t>
            </a:r>
            <a:r>
              <a:rPr lang="en-GB" sz="2000" dirty="0">
                <a:latin typeface="Abadi"/>
              </a:rPr>
              <a:t> = []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6"/>
                </a:solidFill>
                <a:latin typeface="Abadi"/>
              </a:rPr>
              <a:t>for</a:t>
            </a:r>
            <a:r>
              <a:rPr lang="en-GB" sz="2000" dirty="0">
                <a:latin typeface="Abadi"/>
              </a:rPr>
              <a:t> table </a:t>
            </a:r>
            <a:r>
              <a:rPr lang="en-GB" sz="2000" dirty="0">
                <a:solidFill>
                  <a:schemeClr val="accent6"/>
                </a:solidFill>
                <a:latin typeface="Abadi"/>
              </a:rPr>
              <a:t>in</a:t>
            </a:r>
            <a:r>
              <a:rPr lang="en-GB" sz="2000" dirty="0">
                <a:latin typeface="Abadi"/>
              </a:rPr>
              <a:t> </a:t>
            </a:r>
            <a:r>
              <a:rPr lang="en-GB" sz="2000" dirty="0" err="1">
                <a:latin typeface="Abadi"/>
              </a:rPr>
              <a:t>soup.</a:t>
            </a:r>
            <a:r>
              <a:rPr lang="en-GB" sz="2000" dirty="0" err="1">
                <a:solidFill>
                  <a:schemeClr val="accent1"/>
                </a:solidFill>
                <a:latin typeface="Abadi"/>
              </a:rPr>
              <a:t>find_all</a:t>
            </a:r>
            <a:r>
              <a:rPr lang="en-GB" sz="2000" dirty="0">
                <a:latin typeface="Abadi"/>
              </a:rPr>
              <a:t>('table'):</a:t>
            </a:r>
          </a:p>
          <a:p>
            <a:pPr marL="0" indent="0">
              <a:buNone/>
            </a:pPr>
            <a:r>
              <a:rPr lang="en-GB" sz="2000" dirty="0">
                <a:latin typeface="Abadi"/>
              </a:rPr>
              <a:t>      </a:t>
            </a:r>
            <a:r>
              <a:rPr lang="en-GB" sz="2000" dirty="0" err="1">
                <a:latin typeface="Abadi"/>
              </a:rPr>
              <a:t>html_tables.</a:t>
            </a:r>
            <a:r>
              <a:rPr lang="en-GB" sz="2000" dirty="0" err="1">
                <a:solidFill>
                  <a:schemeClr val="accent1"/>
                </a:solidFill>
                <a:latin typeface="Abadi"/>
              </a:rPr>
              <a:t>append</a:t>
            </a:r>
            <a:r>
              <a:rPr lang="en-GB" sz="2000" dirty="0">
                <a:latin typeface="Abadi"/>
              </a:rPr>
              <a:t>(table)</a:t>
            </a:r>
            <a:endParaRPr lang="en-US" sz="2000" dirty="0">
              <a:latin typeface="Abadi"/>
            </a:endParaRPr>
          </a:p>
        </p:txBody>
      </p:sp>
      <p:sp>
        <p:nvSpPr>
          <p:cNvPr id="5" name="TextovéPole 2">
            <a:extLst>
              <a:ext uri="{FF2B5EF4-FFF2-40B4-BE49-F238E27FC236}">
                <a16:creationId xmlns:a16="http://schemas.microsoft.com/office/drawing/2014/main" id="{1A375A2C-6CBF-96A1-2D14-C031129A74A6}"/>
              </a:ext>
            </a:extLst>
          </p:cNvPr>
          <p:cNvSpPr txBox="1"/>
          <p:nvPr/>
        </p:nvSpPr>
        <p:spPr>
          <a:xfrm>
            <a:off x="770011" y="592703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https://github.com/Neuvox512/Data-Science-Capstone-Project/issues/2#issue-5202332896</a:t>
            </a:r>
          </a:p>
        </p:txBody>
      </p:sp>
      <p:sp>
        <p:nvSpPr>
          <p:cNvPr id="8" name="TextovéPole 6">
            <a:extLst>
              <a:ext uri="{FF2B5EF4-FFF2-40B4-BE49-F238E27FC236}">
                <a16:creationId xmlns:a16="http://schemas.microsoft.com/office/drawing/2014/main" id="{396F364F-C27E-3553-FF87-7A9E7EEF2C05}"/>
              </a:ext>
            </a:extLst>
          </p:cNvPr>
          <p:cNvSpPr txBox="1"/>
          <p:nvPr/>
        </p:nvSpPr>
        <p:spPr>
          <a:xfrm>
            <a:off x="770011" y="558490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14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External reference:</a:t>
            </a:r>
          </a:p>
        </p:txBody>
      </p:sp>
    </p:spTree>
    <p:extLst>
      <p:ext uri="{BB962C8B-B14F-4D97-AF65-F5344CB8AC3E}">
        <p14:creationId xmlns:p14="http://schemas.microsoft.com/office/powerpoint/2010/main" val="1385553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10126589" cy="435133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To determine if landing of first stage was successful ‘Outcome’ column was processed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From different types of landing were extracted only values 1 and 0, indicating Success and Failure respectively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These values formed new column and served as target values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Wrangling</a:t>
            </a:r>
          </a:p>
        </p:txBody>
      </p:sp>
      <p:sp>
        <p:nvSpPr>
          <p:cNvPr id="2" name="TextovéPole 2">
            <a:extLst>
              <a:ext uri="{FF2B5EF4-FFF2-40B4-BE49-F238E27FC236}">
                <a16:creationId xmlns:a16="http://schemas.microsoft.com/office/drawing/2014/main" id="{4B9D21BC-93B8-7EB5-6056-ABC176AD1A2B}"/>
              </a:ext>
            </a:extLst>
          </p:cNvPr>
          <p:cNvSpPr txBox="1"/>
          <p:nvPr/>
        </p:nvSpPr>
        <p:spPr>
          <a:xfrm>
            <a:off x="770011" y="592703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https://github.com/Neuvox512/Data-Science-Capstone-Project/issues/2#issue-5202332896</a:t>
            </a:r>
          </a:p>
        </p:txBody>
      </p:sp>
      <p:sp>
        <p:nvSpPr>
          <p:cNvPr id="6" name="TextovéPole 6">
            <a:extLst>
              <a:ext uri="{FF2B5EF4-FFF2-40B4-BE49-F238E27FC236}">
                <a16:creationId xmlns:a16="http://schemas.microsoft.com/office/drawing/2014/main" id="{43E64791-1FD7-7455-04DB-E6E582B9C1F3}"/>
              </a:ext>
            </a:extLst>
          </p:cNvPr>
          <p:cNvSpPr txBox="1"/>
          <p:nvPr/>
        </p:nvSpPr>
        <p:spPr>
          <a:xfrm>
            <a:off x="770011" y="558490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14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External reference: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504612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3200" dirty="0"/>
              <a:t>Charts used in Data Visualization Analysis:</a:t>
            </a:r>
          </a:p>
          <a:p>
            <a:pPr marL="0" indent="0">
              <a:buNone/>
            </a:pP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R</a:t>
            </a:r>
            <a:r>
              <a:rPr lang="ru-CZ" sz="1400" dirty="0"/>
              <a:t>elationship between Flight Number and Launch Site</a:t>
            </a:r>
            <a:r>
              <a:rPr lang="en-US" sz="1400" dirty="0"/>
              <a:t> (scatter plot)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R</a:t>
            </a:r>
            <a:r>
              <a:rPr lang="ru-CZ" sz="1400" dirty="0"/>
              <a:t>elationship between Payload Mass and Launch Site</a:t>
            </a:r>
            <a:r>
              <a:rPr lang="en-US" sz="1400" dirty="0"/>
              <a:t> (scatter plot)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R</a:t>
            </a:r>
            <a:r>
              <a:rPr lang="ru-CZ" sz="1400" dirty="0"/>
              <a:t>elationship between success rate of each orbit type</a:t>
            </a:r>
            <a:r>
              <a:rPr lang="en-US" sz="1400" dirty="0"/>
              <a:t> (bar plot)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R</a:t>
            </a:r>
            <a:r>
              <a:rPr lang="ru-CZ" sz="1400" dirty="0"/>
              <a:t>elationship between FlightNumber and Orbit type</a:t>
            </a:r>
            <a:r>
              <a:rPr lang="en-US" sz="1400" dirty="0"/>
              <a:t> (scatter plot)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R</a:t>
            </a:r>
            <a:r>
              <a:rPr lang="ru-CZ" sz="1400" dirty="0"/>
              <a:t>elationship between Payload Mass and Orbit type</a:t>
            </a:r>
            <a:r>
              <a:rPr lang="en-US" sz="1400" dirty="0"/>
              <a:t> (scatter plot)</a:t>
            </a:r>
            <a:endParaRPr lang="ru-CZ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L</a:t>
            </a:r>
            <a:r>
              <a:rPr lang="ru-CZ" sz="1400" dirty="0"/>
              <a:t>aunch success yearly trend</a:t>
            </a:r>
            <a:r>
              <a:rPr lang="en-US" sz="1400" dirty="0"/>
              <a:t> (line chart)</a:t>
            </a:r>
            <a:endParaRPr lang="ru-CZ" sz="1400" dirty="0"/>
          </a:p>
          <a:p>
            <a:endParaRPr lang="ru-CZ" sz="1400" dirty="0"/>
          </a:p>
          <a:p>
            <a:endParaRPr lang="ru-CZ" sz="1400" dirty="0"/>
          </a:p>
          <a:p>
            <a:endParaRPr lang="ru-CZ" sz="1400" dirty="0"/>
          </a:p>
          <a:p>
            <a:endParaRPr lang="ru-CZ" sz="1400" dirty="0"/>
          </a:p>
          <a:p>
            <a:pPr lvl="1"/>
            <a:endParaRPr lang="en-US" sz="14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Data Visualization</a:t>
            </a:r>
          </a:p>
        </p:txBody>
      </p:sp>
      <p:sp>
        <p:nvSpPr>
          <p:cNvPr id="7" name="TextovéPole 2">
            <a:extLst>
              <a:ext uri="{FF2B5EF4-FFF2-40B4-BE49-F238E27FC236}">
                <a16:creationId xmlns:a16="http://schemas.microsoft.com/office/drawing/2014/main" id="{B0CBDE5E-D62C-2B69-365F-CB0BFA3C5D14}"/>
              </a:ext>
            </a:extLst>
          </p:cNvPr>
          <p:cNvSpPr txBox="1"/>
          <p:nvPr/>
        </p:nvSpPr>
        <p:spPr>
          <a:xfrm>
            <a:off x="770011" y="592703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https://github.com/Neuvox512/Data-Science-Capstone-Project/issues/2#issue-5202332896</a:t>
            </a:r>
          </a:p>
        </p:txBody>
      </p:sp>
      <p:sp>
        <p:nvSpPr>
          <p:cNvPr id="8" name="TextovéPole 6">
            <a:extLst>
              <a:ext uri="{FF2B5EF4-FFF2-40B4-BE49-F238E27FC236}">
                <a16:creationId xmlns:a16="http://schemas.microsoft.com/office/drawing/2014/main" id="{D9AB07A9-7171-94E6-BD77-BEBE4725D003}"/>
              </a:ext>
            </a:extLst>
          </p:cNvPr>
          <p:cNvSpPr txBox="1"/>
          <p:nvPr/>
        </p:nvSpPr>
        <p:spPr>
          <a:xfrm>
            <a:off x="770011" y="558490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14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External reference: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426888"/>
            <a:ext cx="9745589" cy="4162773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1400" dirty="0">
                <a:solidFill>
                  <a:schemeClr val="accent3">
                    <a:lumMod val="25000"/>
                  </a:schemeClr>
                </a:solidFill>
              </a:rPr>
              <a:t>SPACEXTABLE was created in </a:t>
            </a:r>
            <a:r>
              <a:rPr lang="en-US" sz="1400" dirty="0" err="1">
                <a:solidFill>
                  <a:schemeClr val="accent3">
                    <a:lumMod val="25000"/>
                  </a:schemeClr>
                </a:solidFill>
              </a:rPr>
              <a:t>sqlite</a:t>
            </a:r>
            <a:r>
              <a:rPr lang="en-US" sz="1400" dirty="0">
                <a:solidFill>
                  <a:schemeClr val="accent3">
                    <a:lumMod val="25000"/>
                  </a:schemeClr>
                </a:solidFill>
              </a:rPr>
              <a:t> data base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1400" dirty="0">
                <a:solidFill>
                  <a:schemeClr val="accent3">
                    <a:lumMod val="25000"/>
                  </a:schemeClr>
                </a:solidFill>
              </a:rPr>
              <a:t>Unique names of launch site were displayed </a:t>
            </a:r>
          </a:p>
          <a:p>
            <a:pPr>
              <a:spcBef>
                <a:spcPts val="1400"/>
              </a:spcBef>
            </a:pPr>
            <a:r>
              <a:rPr lang="en-US" sz="1400" dirty="0">
                <a:solidFill>
                  <a:schemeClr val="accent3">
                    <a:lumMod val="25000"/>
                  </a:schemeClr>
                </a:solidFill>
              </a:rPr>
              <a:t>Total Payload mass carried by </a:t>
            </a:r>
            <a:r>
              <a:rPr lang="ru-CZ" sz="1400" dirty="0"/>
              <a:t>boosters launched by NASA (CRS)</a:t>
            </a:r>
            <a:r>
              <a:rPr lang="en-US" sz="1400" dirty="0"/>
              <a:t> was found</a:t>
            </a:r>
          </a:p>
          <a:p>
            <a:pPr>
              <a:spcBef>
                <a:spcPts val="1400"/>
              </a:spcBef>
            </a:pPr>
            <a:r>
              <a:rPr lang="ru-CZ" sz="1400" dirty="0"/>
              <a:t>average payload mass carried by booster version F9 v1.1</a:t>
            </a:r>
            <a:r>
              <a:rPr lang="en-US" sz="1400" dirty="0"/>
              <a:t> was found </a:t>
            </a:r>
          </a:p>
          <a:p>
            <a:pPr>
              <a:spcBef>
                <a:spcPts val="1400"/>
              </a:spcBef>
            </a:pPr>
            <a:r>
              <a:rPr lang="ru-CZ" sz="1400" dirty="0"/>
              <a:t>date when the first succesful landing outcome in ground pad was ach</a:t>
            </a:r>
            <a:r>
              <a:rPr lang="cs-CZ" sz="1400" dirty="0" err="1"/>
              <a:t>ie</a:t>
            </a:r>
            <a:r>
              <a:rPr lang="ru-CZ" sz="1400" dirty="0"/>
              <a:t>ved</a:t>
            </a:r>
            <a:r>
              <a:rPr lang="en-US" sz="1400" dirty="0"/>
              <a:t> has been found</a:t>
            </a:r>
          </a:p>
          <a:p>
            <a:r>
              <a:rPr lang="en-US" sz="1400" dirty="0"/>
              <a:t>N</a:t>
            </a:r>
            <a:r>
              <a:rPr lang="ru-CZ" sz="1400" dirty="0"/>
              <a:t>ames of the boosters which have success in drone ship and have payload mass greater than 4000 but less than 6000</a:t>
            </a:r>
            <a:r>
              <a:rPr lang="en-US" sz="1400" dirty="0"/>
              <a:t> were explored</a:t>
            </a:r>
            <a:endParaRPr lang="ru-CZ" sz="1400" dirty="0"/>
          </a:p>
          <a:p>
            <a:pPr>
              <a:spcBef>
                <a:spcPts val="1400"/>
              </a:spcBef>
            </a:pPr>
            <a:r>
              <a:rPr lang="ru-CZ" sz="1400" dirty="0"/>
              <a:t>total number of successful and failure mission outcomes</a:t>
            </a:r>
            <a:r>
              <a:rPr lang="en-US" sz="1400" dirty="0"/>
              <a:t> was found</a:t>
            </a:r>
            <a:endParaRPr lang="ru-CZ" sz="1400" dirty="0"/>
          </a:p>
          <a:p>
            <a:pPr>
              <a:spcBef>
                <a:spcPts val="1400"/>
              </a:spcBef>
            </a:pPr>
            <a:r>
              <a:rPr lang="en-US" sz="1400" dirty="0"/>
              <a:t>A</a:t>
            </a:r>
            <a:r>
              <a:rPr lang="ru-CZ" sz="1400" dirty="0"/>
              <a:t>ll the booster</a:t>
            </a:r>
            <a:r>
              <a:rPr lang="en-US" sz="1400" dirty="0"/>
              <a:t> </a:t>
            </a:r>
            <a:r>
              <a:rPr lang="ru-CZ" sz="1400" dirty="0"/>
              <a:t>versions that have carried the maximum payload mass</a:t>
            </a:r>
            <a:r>
              <a:rPr lang="en-US" sz="1400" dirty="0"/>
              <a:t> were explored</a:t>
            </a:r>
            <a:endParaRPr lang="ru-CZ" sz="1400" dirty="0"/>
          </a:p>
          <a:p>
            <a:pPr>
              <a:spcBef>
                <a:spcPts val="1400"/>
              </a:spcBef>
            </a:pPr>
            <a:r>
              <a:rPr lang="en-US" sz="1400" dirty="0"/>
              <a:t>All r</a:t>
            </a:r>
            <a:r>
              <a:rPr lang="ru-CZ" sz="1400" dirty="0"/>
              <a:t>ecords which display the month, failure landing in drone ship ,booster versions</a:t>
            </a:r>
            <a:r>
              <a:rPr lang="en-US" sz="1400" dirty="0"/>
              <a:t> and </a:t>
            </a:r>
            <a:r>
              <a:rPr lang="ru-CZ" sz="1400" dirty="0"/>
              <a:t>launch</a:t>
            </a:r>
            <a:r>
              <a:rPr lang="en-US" sz="1400" dirty="0"/>
              <a:t> </a:t>
            </a:r>
            <a:r>
              <a:rPr lang="ru-CZ" sz="1400" dirty="0"/>
              <a:t>site for the months in year 2015</a:t>
            </a:r>
            <a:r>
              <a:rPr lang="en-US" sz="1400" dirty="0"/>
              <a:t> were extracted</a:t>
            </a:r>
            <a:endParaRPr lang="ru-CZ" sz="1400" dirty="0"/>
          </a:p>
          <a:p>
            <a:r>
              <a:rPr lang="en-US" sz="1400" dirty="0"/>
              <a:t>All </a:t>
            </a:r>
            <a:r>
              <a:rPr lang="ru-CZ" sz="1400" dirty="0"/>
              <a:t>landing </a:t>
            </a:r>
            <a:r>
              <a:rPr lang="en-US" sz="1400" dirty="0"/>
              <a:t>cases</a:t>
            </a:r>
            <a:r>
              <a:rPr lang="ru-CZ" sz="1400" dirty="0"/>
              <a:t> between the date 2010-06-04 and 2017-03-20</a:t>
            </a:r>
            <a:r>
              <a:rPr lang="en-US" sz="1400" dirty="0"/>
              <a:t> were extracted</a:t>
            </a:r>
            <a:r>
              <a:rPr lang="ru-CZ" sz="1400" dirty="0"/>
              <a:t> in descending order.</a:t>
            </a:r>
            <a:br>
              <a:rPr lang="ru-CZ" sz="1400" dirty="0"/>
            </a:br>
            <a:endParaRPr lang="ru-CZ" sz="1400" dirty="0"/>
          </a:p>
          <a:p>
            <a:pPr>
              <a:spcBef>
                <a:spcPts val="1400"/>
              </a:spcBef>
            </a:pPr>
            <a:endParaRPr lang="ru-CZ" sz="1400" dirty="0"/>
          </a:p>
          <a:p>
            <a:pPr>
              <a:spcBef>
                <a:spcPts val="1400"/>
              </a:spcBef>
            </a:pPr>
            <a:endParaRPr lang="ru-CZ" sz="1400" dirty="0"/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 SQL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2" name="TextovéPole 2">
            <a:extLst>
              <a:ext uri="{FF2B5EF4-FFF2-40B4-BE49-F238E27FC236}">
                <a16:creationId xmlns:a16="http://schemas.microsoft.com/office/drawing/2014/main" id="{02D8B373-30CC-AF70-6349-73F74083EB33}"/>
              </a:ext>
            </a:extLst>
          </p:cNvPr>
          <p:cNvSpPr txBox="1"/>
          <p:nvPr/>
        </p:nvSpPr>
        <p:spPr>
          <a:xfrm>
            <a:off x="770011" y="598380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https://github.com/Neuvox512/Data-Science-Capstone-Project/issues/2#issue-5202332896</a:t>
            </a:r>
          </a:p>
        </p:txBody>
      </p:sp>
      <p:sp>
        <p:nvSpPr>
          <p:cNvPr id="6" name="TextovéPole 6">
            <a:extLst>
              <a:ext uri="{FF2B5EF4-FFF2-40B4-BE49-F238E27FC236}">
                <a16:creationId xmlns:a16="http://schemas.microsoft.com/office/drawing/2014/main" id="{D202567F-D190-9C03-09D0-B39B1F5A5006}"/>
              </a:ext>
            </a:extLst>
          </p:cNvPr>
          <p:cNvSpPr txBox="1"/>
          <p:nvPr/>
        </p:nvSpPr>
        <p:spPr>
          <a:xfrm>
            <a:off x="770011" y="567603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14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External reference:</a:t>
            </a: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7505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First </a:t>
            </a:r>
            <a:r>
              <a:rPr lang="en-US" sz="1600" dirty="0" err="1"/>
              <a:t>folium.Map</a:t>
            </a:r>
            <a:r>
              <a:rPr lang="en-US" sz="1600" dirty="0"/>
              <a:t> object was created with coordinated related to </a:t>
            </a:r>
            <a:r>
              <a:rPr lang="ru-CZ" sz="1600" dirty="0"/>
              <a:t>NASA Johnson Space Center at Houston, Texas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Then </a:t>
            </a:r>
            <a:r>
              <a:rPr lang="en-US" sz="1600" dirty="0" err="1"/>
              <a:t>folum.Circle</a:t>
            </a:r>
            <a:r>
              <a:rPr lang="en-US" sz="1600" dirty="0"/>
              <a:t> and </a:t>
            </a:r>
            <a:r>
              <a:rPr lang="en-US" sz="1600" dirty="0" err="1"/>
              <a:t>folium.Marker</a:t>
            </a:r>
            <a:r>
              <a:rPr lang="en-US" sz="1600" dirty="0"/>
              <a:t> object were used to highlight and label NASA Space Center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Then all Launch Site and their coordinates were extracted from data set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Launch sites were </a:t>
            </a:r>
            <a:r>
              <a:rPr lang="en-US" sz="1600" dirty="0" err="1"/>
              <a:t>highlited</a:t>
            </a:r>
            <a:r>
              <a:rPr lang="en-US" sz="1600" dirty="0"/>
              <a:t> the same way with </a:t>
            </a:r>
            <a:r>
              <a:rPr lang="en-US" sz="1600" dirty="0" err="1"/>
              <a:t>folium.Circle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 err="1"/>
              <a:t>MarkerCluster</a:t>
            </a:r>
            <a:r>
              <a:rPr lang="en-US" sz="1600" dirty="0"/>
              <a:t> object was used to present successful and unsuccessful landing of rocket’s first stage launched from respective launch site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Then </a:t>
            </a:r>
            <a:r>
              <a:rPr lang="en-US" sz="1600" dirty="0" err="1"/>
              <a:t>PolyLine</a:t>
            </a:r>
            <a:r>
              <a:rPr lang="en-US" sz="1600" dirty="0"/>
              <a:t> object was created to represent the distance between launch site and their proximities 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an Interactive Map with Folium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2" name="TextovéPole 2">
            <a:extLst>
              <a:ext uri="{FF2B5EF4-FFF2-40B4-BE49-F238E27FC236}">
                <a16:creationId xmlns:a16="http://schemas.microsoft.com/office/drawing/2014/main" id="{3FC04770-0320-6793-9BC7-4053CC416917}"/>
              </a:ext>
            </a:extLst>
          </p:cNvPr>
          <p:cNvSpPr txBox="1"/>
          <p:nvPr/>
        </p:nvSpPr>
        <p:spPr>
          <a:xfrm>
            <a:off x="770011" y="592703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https://github.com/Neuvox512/Data-Science-Capstone-Project/issues/4#issue-5205705461</a:t>
            </a:r>
          </a:p>
        </p:txBody>
      </p:sp>
      <p:sp>
        <p:nvSpPr>
          <p:cNvPr id="6" name="TextovéPole 6">
            <a:extLst>
              <a:ext uri="{FF2B5EF4-FFF2-40B4-BE49-F238E27FC236}">
                <a16:creationId xmlns:a16="http://schemas.microsoft.com/office/drawing/2014/main" id="{EDBB9D93-76AE-FD73-3A7F-6FE5E4E52A45}"/>
              </a:ext>
            </a:extLst>
          </p:cNvPr>
          <p:cNvSpPr txBox="1"/>
          <p:nvPr/>
        </p:nvSpPr>
        <p:spPr>
          <a:xfrm>
            <a:off x="770011" y="561925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14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External reference:</a:t>
            </a: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438706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14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how you built, evaluated, improved, and found the best performing classification model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14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present your model development process using key phrases and flowchart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14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predictive analysis lab, as an external reference and peer-review purpose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14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First data were </a:t>
            </a:r>
            <a:r>
              <a:rPr lang="en-US" sz="14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splited</a:t>
            </a:r>
            <a:r>
              <a:rPr lang="en-US" sz="14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to target variable and other features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14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All features were standardized with </a:t>
            </a:r>
            <a:r>
              <a:rPr lang="en-US" sz="14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StandardScaler</a:t>
            </a:r>
            <a:r>
              <a:rPr lang="en-US" sz="14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method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14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Then features and target variable were </a:t>
            </a:r>
            <a:r>
              <a:rPr lang="en-US" sz="14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splited</a:t>
            </a:r>
            <a:r>
              <a:rPr lang="en-US" sz="14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into training and test sets with ratio 80:20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14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Then logistic regression, support vector machine, decision tree classifier and k-neighbor classifier were used to select the best model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14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GridSearchCV</a:t>
            </a:r>
            <a:r>
              <a:rPr lang="en-US" sz="14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method was used to tune and optimize hyperparameters of particular model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14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Accuracy and confusion matrix were used as metrics of models </a:t>
            </a:r>
            <a:r>
              <a:rPr lang="en-US" sz="14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perfomance</a:t>
            </a:r>
            <a:endParaRPr lang="en-US" sz="14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Predictive Analysis (Classification)</a:t>
            </a:r>
          </a:p>
        </p:txBody>
      </p:sp>
      <p:sp>
        <p:nvSpPr>
          <p:cNvPr id="6" name="TextovéPole 2">
            <a:extLst>
              <a:ext uri="{FF2B5EF4-FFF2-40B4-BE49-F238E27FC236}">
                <a16:creationId xmlns:a16="http://schemas.microsoft.com/office/drawing/2014/main" id="{D39EF5AD-3211-DA83-04F7-814AABF8B9A8}"/>
              </a:ext>
            </a:extLst>
          </p:cNvPr>
          <p:cNvSpPr txBox="1"/>
          <p:nvPr/>
        </p:nvSpPr>
        <p:spPr>
          <a:xfrm>
            <a:off x="770011" y="592703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https://github.com/Neuvox512/Data-Science-Capstone-Project/issues/3#issue-5205687371</a:t>
            </a:r>
          </a:p>
        </p:txBody>
      </p:sp>
      <p:sp>
        <p:nvSpPr>
          <p:cNvPr id="8" name="TextovéPole 6">
            <a:extLst>
              <a:ext uri="{FF2B5EF4-FFF2-40B4-BE49-F238E27FC236}">
                <a16:creationId xmlns:a16="http://schemas.microsoft.com/office/drawing/2014/main" id="{773F6D51-F6A2-AC95-E739-2BD8E4126F55}"/>
              </a:ext>
            </a:extLst>
          </p:cNvPr>
          <p:cNvSpPr txBox="1"/>
          <p:nvPr/>
        </p:nvSpPr>
        <p:spPr>
          <a:xfrm>
            <a:off x="770011" y="558490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14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External reference: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B9C153-C85C-3240-8E7E-523FBC004564}"/>
              </a:ext>
            </a:extLst>
          </p:cNvPr>
          <p:cNvSpPr txBox="1">
            <a:spLocks/>
          </p:cNvSpPr>
          <p:nvPr/>
        </p:nvSpPr>
        <p:spPr>
          <a:xfrm>
            <a:off x="841125" y="1807337"/>
            <a:ext cx="7068725" cy="1621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Exploratory data analysis 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Interactive analytics demo in screenshots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Predictive analysis results</a:t>
            </a:r>
          </a:p>
          <a:p>
            <a:pPr lvl="1"/>
            <a:endParaRPr lang="en-US" sz="1800"/>
          </a:p>
          <a:p>
            <a:pPr marL="457200" lvl="1" indent="0">
              <a:buNone/>
            </a:pPr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14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Results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8B93D-8F11-6347-95EE-BF68474E5B1F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64973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Flight Number vs. Launch Site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Launch Site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605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Payload vs. Launch Site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Launch Site</a:t>
            </a:r>
          </a:p>
        </p:txBody>
      </p:sp>
    </p:spTree>
    <p:extLst>
      <p:ext uri="{BB962C8B-B14F-4D97-AF65-F5344CB8AC3E}">
        <p14:creationId xmlns:p14="http://schemas.microsoft.com/office/powerpoint/2010/main" val="3869789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82114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bar chart for the success rate of each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 Rate vs. Orbit 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90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6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Flight number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Orbit 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727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payload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Orbit 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340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line chart of yearly average success rate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Success Yearly Trend</a:t>
            </a:r>
          </a:p>
        </p:txBody>
      </p:sp>
    </p:spTree>
    <p:extLst>
      <p:ext uri="{BB962C8B-B14F-4D97-AF65-F5344CB8AC3E}">
        <p14:creationId xmlns:p14="http://schemas.microsoft.com/office/powerpoint/2010/main" val="706594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937579" y="1883366"/>
            <a:ext cx="5843818" cy="4142207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cs-CZ" sz="22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Unique</a:t>
            </a:r>
            <a:r>
              <a:rPr lang="cs-CZ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cs-CZ" sz="22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names</a:t>
            </a:r>
            <a:r>
              <a:rPr lang="cs-CZ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cs-CZ" sz="22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of</a:t>
            </a:r>
            <a:r>
              <a:rPr lang="cs-CZ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cs-CZ" sz="22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Launch</a:t>
            </a:r>
            <a:r>
              <a:rPr lang="cs-CZ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cs-CZ" sz="22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sites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were extracted from database SPACEXTABLE</a:t>
            </a:r>
          </a:p>
          <a:p>
            <a:pPr>
              <a:lnSpc>
                <a:spcPct val="15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SQL query using DISTINCT was implemented for that purpose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All Launch Site Names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31FECE7E-F56A-388E-8FD5-CE23499153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540" r="68446"/>
          <a:stretch>
            <a:fillRect/>
          </a:stretch>
        </p:blipFill>
        <p:spPr>
          <a:xfrm>
            <a:off x="1303411" y="1985739"/>
            <a:ext cx="3029103" cy="419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8509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23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Site Names Begin with 'CCA'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3CFFD377-8B90-A4D7-9158-AD86D157C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11" y="3169947"/>
            <a:ext cx="10173582" cy="2560542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91A05F57-B6CF-E065-94FE-4AC57FE2E55E}"/>
              </a:ext>
            </a:extLst>
          </p:cNvPr>
          <p:cNvSpPr txBox="1"/>
          <p:nvPr/>
        </p:nvSpPr>
        <p:spPr>
          <a:xfrm>
            <a:off x="770010" y="1641834"/>
            <a:ext cx="10877703" cy="1058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Abadi" panose="020B0604020104020204" pitchFamily="34" charset="0"/>
              </a:rPr>
              <a:t>5 records where launch sites begin with the string 'CCA’ </a:t>
            </a: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were extracted from database SPACEXTABLE</a:t>
            </a:r>
          </a:p>
          <a:p>
            <a:pPr marL="342900" indent="-342900">
              <a:lnSpc>
                <a:spcPct val="15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SQL query using </a:t>
            </a:r>
            <a:r>
              <a:rPr lang="en-US" u="sng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like ‘CCA%’ LIMIT 5 </a:t>
            </a: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was implemented for that purpose </a:t>
            </a:r>
          </a:p>
        </p:txBody>
      </p:sp>
    </p:spTree>
    <p:extLst>
      <p:ext uri="{BB962C8B-B14F-4D97-AF65-F5344CB8AC3E}">
        <p14:creationId xmlns:p14="http://schemas.microsoft.com/office/powerpoint/2010/main" val="1794738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24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Payload Mass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663D1D12-1C4A-11DC-69AC-CE060B54E9CF}"/>
              </a:ext>
            </a:extLst>
          </p:cNvPr>
          <p:cNvSpPr txBox="1"/>
          <p:nvPr/>
        </p:nvSpPr>
        <p:spPr>
          <a:xfrm>
            <a:off x="770011" y="1979290"/>
            <a:ext cx="10877703" cy="2035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SQL query using SUM() method was implemented for that purpose </a:t>
            </a:r>
          </a:p>
          <a:p>
            <a:pPr marL="342900" indent="-342900">
              <a:lnSpc>
                <a:spcPct val="2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SQL query also contained condition where customer was chosen as ‘NASA (CRS)’</a:t>
            </a:r>
          </a:p>
          <a:p>
            <a:pPr marL="342900" indent="-342900">
              <a:lnSpc>
                <a:spcPct val="2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SQL result: </a:t>
            </a:r>
            <a:r>
              <a:rPr lang="en-GB" dirty="0"/>
              <a:t>45596 kg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014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25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Average Payload Mass by F9 v1.1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0B06A986-ACCF-3DAE-42E1-A8DCE4717009}"/>
              </a:ext>
            </a:extLst>
          </p:cNvPr>
          <p:cNvSpPr txBox="1"/>
          <p:nvPr/>
        </p:nvSpPr>
        <p:spPr>
          <a:xfrm>
            <a:off x="770011" y="1908987"/>
            <a:ext cx="10877703" cy="2035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SQL query using AVG() method was implemented for that purpose </a:t>
            </a:r>
          </a:p>
          <a:p>
            <a:pPr marL="342900" indent="-342900">
              <a:lnSpc>
                <a:spcPct val="2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SQL query also contained condition where Booster Version was chosen as ‘F9 v1.1’</a:t>
            </a:r>
          </a:p>
          <a:p>
            <a:pPr marL="342900" indent="-342900">
              <a:lnSpc>
                <a:spcPct val="2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SQL result: </a:t>
            </a:r>
            <a:r>
              <a:rPr lang="en-GB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2928,4</a:t>
            </a:r>
            <a:r>
              <a:rPr lang="en-GB" dirty="0"/>
              <a:t> kg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560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26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First Successful Ground Landing Date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11AC816F-2DC6-C723-E960-CA87C5FFD366}"/>
              </a:ext>
            </a:extLst>
          </p:cNvPr>
          <p:cNvSpPr txBox="1"/>
          <p:nvPr/>
        </p:nvSpPr>
        <p:spPr>
          <a:xfrm>
            <a:off x="770011" y="1908987"/>
            <a:ext cx="10877703" cy="2035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SQL query using MIN() method for date column was implemented for that purpose </a:t>
            </a:r>
          </a:p>
          <a:p>
            <a:pPr marL="342900" indent="-342900">
              <a:lnSpc>
                <a:spcPct val="2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SQL query also contained condition where Landing Outcome was chosen as ‘Success (ground pad)’</a:t>
            </a:r>
          </a:p>
          <a:p>
            <a:pPr marL="342900" indent="-342900">
              <a:lnSpc>
                <a:spcPct val="2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Result date: </a:t>
            </a:r>
            <a:r>
              <a:rPr lang="en-GB" dirty="0">
                <a:latin typeface="Abadi" panose="020B0604020104020204" pitchFamily="34" charset="0"/>
              </a:rPr>
              <a:t>2015-12-22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6799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27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Successful Drone Ship Landing with Payload between 4000 and 6000</a:t>
            </a: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9CF54E49-3CF5-67CA-93B7-2E6B9A886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11" y="1981806"/>
            <a:ext cx="2528049" cy="3357563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9F7D66BD-4D28-A187-1B22-22EC83D34685}"/>
              </a:ext>
            </a:extLst>
          </p:cNvPr>
          <p:cNvSpPr txBox="1"/>
          <p:nvPr/>
        </p:nvSpPr>
        <p:spPr>
          <a:xfrm>
            <a:off x="3849394" y="1755259"/>
            <a:ext cx="7918064" cy="2767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SQL query was used for extraction Booster Version from table</a:t>
            </a:r>
          </a:p>
          <a:p>
            <a:pPr marL="342900" indent="-342900">
              <a:lnSpc>
                <a:spcPct val="2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SQL query also contained 2 conditions:</a:t>
            </a:r>
          </a:p>
          <a:p>
            <a:pPr marL="800100" lvl="1" indent="-342900">
              <a:lnSpc>
                <a:spcPct val="2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Landing Outcome was chosen as ‘Success (drone ship)’</a:t>
            </a:r>
          </a:p>
          <a:p>
            <a:pPr marL="800100" lvl="1" indent="-342900">
              <a:lnSpc>
                <a:spcPct val="2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Payload mass was chosen in range between 4000 and 6000 kg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28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Number of Successful and Failure Mission Outcomes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2BBCF065-4F95-A76C-D75A-9CBF415EF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11" y="3429000"/>
            <a:ext cx="6501085" cy="2871838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EC941634-1AB3-823D-1BDF-CA958D075B97}"/>
              </a:ext>
            </a:extLst>
          </p:cNvPr>
          <p:cNvSpPr txBox="1"/>
          <p:nvPr/>
        </p:nvSpPr>
        <p:spPr>
          <a:xfrm>
            <a:off x="770011" y="1713070"/>
            <a:ext cx="11062760" cy="1300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SQL query was used for extraction Mission Outcome and their count using method COUNT() from table</a:t>
            </a:r>
          </a:p>
          <a:p>
            <a:pPr marL="342900" indent="-342900">
              <a:lnSpc>
                <a:spcPct val="2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GROUP BY method was further implemented in SQL query to get number of Missions to related outcome</a:t>
            </a:r>
          </a:p>
        </p:txBody>
      </p:sp>
    </p:spTree>
    <p:extLst>
      <p:ext uri="{BB962C8B-B14F-4D97-AF65-F5344CB8AC3E}">
        <p14:creationId xmlns:p14="http://schemas.microsoft.com/office/powerpoint/2010/main" val="17569726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29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Boosters Carried Maximum Payload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B35FC07F-F8EE-9356-8C64-41C25397A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11" y="1676565"/>
            <a:ext cx="1613960" cy="4549827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C47D9F92-AA60-890E-4E24-665AE963964D}"/>
              </a:ext>
            </a:extLst>
          </p:cNvPr>
          <p:cNvSpPr txBox="1"/>
          <p:nvPr/>
        </p:nvSpPr>
        <p:spPr>
          <a:xfrm>
            <a:off x="2740325" y="1427357"/>
            <a:ext cx="8199818" cy="2795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3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SQL query was used for extraction Booster Version from table</a:t>
            </a:r>
          </a:p>
          <a:p>
            <a:pPr marL="342900" indent="-342900">
              <a:lnSpc>
                <a:spcPct val="3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Subquery with aggregate function was further implemented in SQL query</a:t>
            </a:r>
          </a:p>
          <a:p>
            <a:pPr marL="342900" indent="-342900">
              <a:lnSpc>
                <a:spcPct val="3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Aggregate function included MAX() method to extract maximum payload mass</a:t>
            </a:r>
          </a:p>
        </p:txBody>
      </p:sp>
    </p:spTree>
    <p:extLst>
      <p:ext uri="{BB962C8B-B14F-4D97-AF65-F5344CB8AC3E}">
        <p14:creationId xmlns:p14="http://schemas.microsoft.com/office/powerpoint/2010/main" val="35666463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30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2015 Launch Records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9264C3BA-FC31-9234-C81A-F04B6096548F}"/>
              </a:ext>
            </a:extLst>
          </p:cNvPr>
          <p:cNvSpPr txBox="1"/>
          <p:nvPr/>
        </p:nvSpPr>
        <p:spPr>
          <a:xfrm>
            <a:off x="770011" y="1484086"/>
            <a:ext cx="11818560" cy="2767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SQL query was used for extraction Booster Version, Launch Site, Year and Month from table</a:t>
            </a:r>
          </a:p>
          <a:p>
            <a:pPr marL="342900" indent="-342900">
              <a:lnSpc>
                <a:spcPct val="2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SQL query also contained 2 conditions:</a:t>
            </a:r>
          </a:p>
          <a:p>
            <a:pPr marL="800100" lvl="1" indent="-342900">
              <a:lnSpc>
                <a:spcPct val="2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Landing Outcome was chosen as ‘Success (drone ship)’</a:t>
            </a:r>
          </a:p>
          <a:p>
            <a:pPr marL="800100" lvl="1" indent="-342900">
              <a:lnSpc>
                <a:spcPct val="2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2015 year was selected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D5669E8C-5F91-1FA8-1588-66C2E3C58D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4" t="24574" r="5518" b="7815"/>
          <a:stretch>
            <a:fillRect/>
          </a:stretch>
        </p:blipFill>
        <p:spPr>
          <a:xfrm>
            <a:off x="870857" y="4554558"/>
            <a:ext cx="6487886" cy="187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4391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31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Rank Landing Outcomes Between 2010-06-04 and 2017-03-20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FFC2C847-4E74-A588-6BAC-ABBB7783D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11" y="1656013"/>
            <a:ext cx="3983135" cy="3415736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3C96761A-58C6-836D-4255-1FCB519C536A}"/>
              </a:ext>
            </a:extLst>
          </p:cNvPr>
          <p:cNvSpPr txBox="1"/>
          <p:nvPr/>
        </p:nvSpPr>
        <p:spPr>
          <a:xfrm>
            <a:off x="5060820" y="1656013"/>
            <a:ext cx="5922865" cy="3545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SQL query was used for extraction Mission Outcome and their count using method COUNT() from table</a:t>
            </a:r>
          </a:p>
          <a:p>
            <a:pPr marL="342900" indent="-342900">
              <a:lnSpc>
                <a:spcPct val="15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GROUP BY method was further implemented in SQL query to get number of Missions to related outcome</a:t>
            </a:r>
          </a:p>
          <a:p>
            <a:pPr marL="342900" indent="-342900">
              <a:lnSpc>
                <a:spcPct val="15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SQL query also included condition where date was selected between </a:t>
            </a:r>
            <a:r>
              <a:rPr lang="en-US" sz="16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2010-06-04 and 2017-03-20</a:t>
            </a:r>
          </a:p>
          <a:p>
            <a:pPr marL="342900" indent="-342900">
              <a:lnSpc>
                <a:spcPct val="15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The query was further presented by number of successful landings in descending order</a:t>
            </a:r>
            <a:endParaRPr lang="en-US" sz="16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1684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25EC16-0638-FF41-B7CF-E42224EF7FA1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Site Markers</a:t>
            </a:r>
          </a:p>
        </p:txBody>
      </p:sp>
      <p:pic>
        <p:nvPicPr>
          <p:cNvPr id="6" name="Obrázek 5" descr="Image">
            <a:extLst>
              <a:ext uri="{FF2B5EF4-FFF2-40B4-BE49-F238E27FC236}">
                <a16:creationId xmlns:a16="http://schemas.microsoft.com/office/drawing/2014/main" id="{AA36DEA7-FDE6-BA3C-FC7B-490674560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87" y="3134118"/>
            <a:ext cx="6487884" cy="3293093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EDFE1D40-7C2E-6066-D338-C5F61D2AD389}"/>
              </a:ext>
            </a:extLst>
          </p:cNvPr>
          <p:cNvSpPr txBox="1"/>
          <p:nvPr/>
        </p:nvSpPr>
        <p:spPr>
          <a:xfrm>
            <a:off x="770011" y="1543026"/>
            <a:ext cx="8406646" cy="1121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On global map location markers related to launch site coordinates were placed 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2 of 3 launch site are settled down very close to each other on east coast </a:t>
            </a:r>
            <a:endParaRPr lang="en-GB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6717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spcBef>
                <a:spcPts val="1400"/>
              </a:spcBef>
            </a:pPr>
            <a:r>
              <a:rPr lang="en-GB" sz="1800" dirty="0" err="1">
                <a:latin typeface="Abadi" panose="020B0604020104020204" pitchFamily="34" charset="0"/>
              </a:rPr>
              <a:t>MarkerCluster</a:t>
            </a:r>
            <a:r>
              <a:rPr lang="en-GB" sz="1800" dirty="0">
                <a:latin typeface="Abadi" panose="020B0604020104020204" pitchFamily="34" charset="0"/>
              </a:rPr>
              <a:t> object was used to create markers having the same coordinate</a:t>
            </a:r>
            <a:endParaRPr lang="en-US" sz="18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spcBef>
                <a:spcPts val="1400"/>
              </a:spcBef>
            </a:pPr>
            <a:r>
              <a:rPr lang="en-GB" sz="1800" dirty="0">
                <a:latin typeface="Abadi" panose="020B0604020104020204" pitchFamily="34" charset="0"/>
              </a:rPr>
              <a:t>Then we used a green markers for successful launches and red marker for </a:t>
            </a:r>
            <a:r>
              <a:rPr lang="en-GB" sz="1800" dirty="0" err="1">
                <a:latin typeface="Abadi" panose="020B0604020104020204" pitchFamily="34" charset="0"/>
              </a:rPr>
              <a:t>unsuccesful</a:t>
            </a:r>
            <a:endParaRPr lang="en-US" sz="18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pic>
        <p:nvPicPr>
          <p:cNvPr id="7" name="Obrázek 6" descr="Image">
            <a:extLst>
              <a:ext uri="{FF2B5EF4-FFF2-40B4-BE49-F238E27FC236}">
                <a16:creationId xmlns:a16="http://schemas.microsoft.com/office/drawing/2014/main" id="{0A049306-1609-7C04-ACDA-91DF6C061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10" y="3037375"/>
            <a:ext cx="5623194" cy="27379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D399CCB-D96B-AE34-3530-37A01D14F18B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Markers for all launch records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84C3EACE-C584-CF35-147E-83FF46CB1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094" y="3037375"/>
            <a:ext cx="4898878" cy="273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78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690688"/>
            <a:ext cx="11204276" cy="1999569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spcBef>
                <a:spcPts val="1400"/>
              </a:spcBef>
            </a:pPr>
            <a:r>
              <a:rPr lang="en-GB" sz="1800" dirty="0" err="1">
                <a:latin typeface="Abadi" panose="020B0604020104020204" pitchFamily="34" charset="0"/>
              </a:rPr>
              <a:t>PolyLine</a:t>
            </a:r>
            <a:r>
              <a:rPr lang="en-GB" sz="1800" dirty="0">
                <a:latin typeface="Abadi" panose="020B0604020104020204" pitchFamily="34" charset="0"/>
              </a:rPr>
              <a:t> method was </a:t>
            </a:r>
            <a:endParaRPr lang="en-US" sz="18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spcBef>
                <a:spcPts val="1400"/>
              </a:spcBef>
            </a:pPr>
            <a:r>
              <a:rPr lang="en-GB" sz="1800" dirty="0">
                <a:latin typeface="Abadi" panose="020B0604020104020204" pitchFamily="34" charset="0"/>
              </a:rPr>
              <a:t>Point on the closest coastline using </a:t>
            </a:r>
            <a:r>
              <a:rPr lang="en-GB" sz="1800" dirty="0" err="1">
                <a:latin typeface="Abadi" panose="020B0604020104020204" pitchFamily="34" charset="0"/>
              </a:rPr>
              <a:t>MousePosition</a:t>
            </a:r>
            <a:r>
              <a:rPr lang="en-GB" sz="1800" dirty="0">
                <a:latin typeface="Abadi" panose="020B0604020104020204" pitchFamily="34" charset="0"/>
              </a:rPr>
              <a:t> was marked down and the distance between the coastline point and the launch site was calculated</a:t>
            </a:r>
          </a:p>
          <a:p>
            <a:pPr>
              <a:spcBef>
                <a:spcPts val="1400"/>
              </a:spcBef>
            </a:pPr>
            <a:r>
              <a:rPr lang="en-GB" sz="18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Then coastline corresponding Marker was added to the map</a:t>
            </a:r>
          </a:p>
          <a:p>
            <a:pPr>
              <a:spcBef>
                <a:spcPts val="1400"/>
              </a:spcBef>
            </a:pPr>
            <a:r>
              <a:rPr lang="en-GB" sz="1800" dirty="0" err="1">
                <a:latin typeface="Abadi" panose="020B0604020104020204" pitchFamily="34" charset="0"/>
              </a:rPr>
              <a:t>PolyLine</a:t>
            </a:r>
            <a:r>
              <a:rPr lang="en-GB" sz="1800" dirty="0">
                <a:latin typeface="Abadi" panose="020B0604020104020204" pitchFamily="34" charset="0"/>
              </a:rPr>
              <a:t> method was used to draw the line between launch site and coastline</a:t>
            </a:r>
            <a:endParaRPr lang="en-US" sz="18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site proximities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E3C32BA5-5098-C2D1-C698-3D0995F0F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7" y="3696944"/>
            <a:ext cx="6275961" cy="294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90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7DFD2-2B76-8445-A1BD-6628DC42C398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1744789"/>
            <a:ext cx="5325989" cy="3811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2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All model models performed well in terms of accuracy</a:t>
            </a:r>
          </a:p>
          <a:p>
            <a:pPr>
              <a:lnSpc>
                <a:spcPct val="2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Every model has the same accuracy equal to 83,33 %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Classification Accuracy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B5023B6E-CEDA-247A-E731-552BE6638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477" y="1817913"/>
            <a:ext cx="5619512" cy="366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4460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6096000" y="1719942"/>
            <a:ext cx="4683732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Confusion matrices of the all models are the same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All models have the same False Positive and False Negative rates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Confusion Matrix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DF36F723-0D03-8E99-22C4-49FECB1BF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11" y="1719942"/>
            <a:ext cx="5051896" cy="440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0342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39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75054"/>
            <a:ext cx="5903913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Conclusions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0407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</TotalTime>
  <Words>1682</Words>
  <Application>Microsoft Office PowerPoint</Application>
  <PresentationFormat>Širokoúhlá obrazovka</PresentationFormat>
  <Paragraphs>251</Paragraphs>
  <Slides>40</Slides>
  <Notes>5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40</vt:i4>
      </vt:variant>
    </vt:vector>
  </HeadingPairs>
  <TitlesOfParts>
    <vt:vector size="45" baseType="lpstr">
      <vt:lpstr>Abadi</vt:lpstr>
      <vt:lpstr>Arial</vt:lpstr>
      <vt:lpstr>Calibri</vt:lpstr>
      <vt:lpstr>IBM Plex Mono SemiBold</vt:lpstr>
      <vt:lpstr>Custom Design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&lt;Title&gt;</dc:title>
  <dc:creator>YAN Luo</dc:creator>
  <cp:lastModifiedBy>Oleksandra Shumilina</cp:lastModifiedBy>
  <cp:revision>207</cp:revision>
  <dcterms:created xsi:type="dcterms:W3CDTF">2021-04-29T18:58:34Z</dcterms:created>
  <dcterms:modified xsi:type="dcterms:W3CDTF">2026-08-28T09:56:10Z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